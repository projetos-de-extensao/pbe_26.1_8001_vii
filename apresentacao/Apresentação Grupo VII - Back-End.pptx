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79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40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943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39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366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502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494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3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89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72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37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10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1187F7A-920C-B377-65E8-1CF4CBCE3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793AAE-CABB-A944-7B03-7D4B8D83E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5293849"/>
            <a:ext cx="7202558" cy="1178688"/>
          </a:xfrm>
        </p:spPr>
        <p:txBody>
          <a:bodyPr anchor="ctr">
            <a:normAutofit/>
          </a:bodyPr>
          <a:lstStyle/>
          <a:p>
            <a:pPr algn="l"/>
            <a:r>
              <a:rPr lang="en-US" sz="3700" dirty="0" err="1"/>
              <a:t>Projeto</a:t>
            </a:r>
            <a:r>
              <a:rPr lang="en-US" sz="3700" dirty="0"/>
              <a:t> Back-End</a:t>
            </a:r>
            <a:br>
              <a:rPr lang="en-US" sz="3700" dirty="0"/>
            </a:br>
            <a:r>
              <a:rPr lang="en-US" sz="3700" dirty="0" err="1"/>
              <a:t>grupo</a:t>
            </a:r>
            <a:r>
              <a:rPr lang="en-US" sz="3700" dirty="0"/>
              <a:t> VII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8311B4-1776-B22E-D570-9AE73D312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2157" y="5293850"/>
            <a:ext cx="3874124" cy="1178688"/>
          </a:xfrm>
        </p:spPr>
        <p:txBody>
          <a:bodyPr anchor="ctr">
            <a:normAutofit/>
          </a:bodyPr>
          <a:lstStyle/>
          <a:p>
            <a:pPr algn="r"/>
            <a:r>
              <a:rPr lang="en-US" dirty="0"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Gabriel Barreto, </a:t>
            </a:r>
            <a:r>
              <a:rPr lang="en-US" dirty="0" err="1"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Guilheme</a:t>
            </a:r>
            <a:r>
              <a:rPr lang="en-US" dirty="0"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Braz, Ísis Tavares, Mariana Faria e Matheus </a:t>
            </a:r>
            <a:r>
              <a:rPr lang="en-US" dirty="0" err="1"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Avarenga</a:t>
            </a:r>
            <a:endParaRPr lang="en-US" dirty="0">
              <a:latin typeface="Abadi" panose="020B0604020104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26C9CD-EE91-D8CF-9669-6D3EC99A88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737" b="33004"/>
          <a:stretch>
            <a:fillRect/>
          </a:stretch>
        </p:blipFill>
        <p:spPr>
          <a:xfrm>
            <a:off x="20" y="10"/>
            <a:ext cx="12191980" cy="490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77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3197D9-A089-6D23-3953-5360FEED9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8EF87-F190-FB47-73F3-4AF7E16AA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436168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O </a:t>
            </a:r>
            <a:r>
              <a:rPr lang="en-US" dirty="0" err="1"/>
              <a:t>que</a:t>
            </a:r>
            <a:r>
              <a:rPr lang="en-US" dirty="0"/>
              <a:t> é o </a:t>
            </a:r>
            <a:r>
              <a:rPr lang="en-US" dirty="0" err="1"/>
              <a:t>projeto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8342F-0A64-23C7-0691-124693EB5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4361687" cy="409651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Uma Plataforma digital de </a:t>
            </a:r>
            <a:r>
              <a:rPr lang="en-US" sz="1600" dirty="0" err="1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gestão</a:t>
            </a:r>
            <a:r>
              <a:rPr lang="en-US" sz="1600" dirty="0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de </a:t>
            </a:r>
            <a:r>
              <a:rPr lang="en-US" sz="1600" dirty="0" err="1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estágio</a:t>
            </a:r>
            <a:r>
              <a:rPr lang="en-US" sz="1600" dirty="0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sz="1600" dirty="0" err="1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alinhada</a:t>
            </a:r>
            <a:r>
              <a:rPr lang="en-US" sz="1600" dirty="0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com a </a:t>
            </a:r>
            <a:r>
              <a:rPr lang="en-US" sz="1600" dirty="0" err="1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legislação</a:t>
            </a:r>
            <a:r>
              <a:rPr lang="en-US" sz="1600" dirty="0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sz="1600" dirty="0" err="1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trabalhista</a:t>
            </a:r>
            <a:r>
              <a:rPr lang="en-US" sz="1600" dirty="0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e as </a:t>
            </a:r>
            <a:r>
              <a:rPr lang="en-US" sz="1600" dirty="0" err="1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regulamentações</a:t>
            </a:r>
            <a:r>
              <a:rPr lang="en-US" sz="1600" dirty="0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do MEC, com o </a:t>
            </a:r>
            <a:r>
              <a:rPr lang="en-US" sz="1600" dirty="0" err="1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objetivo</a:t>
            </a:r>
            <a:r>
              <a:rPr lang="en-US" sz="1600" dirty="0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de </a:t>
            </a:r>
            <a:r>
              <a:rPr lang="en-US" sz="1600" dirty="0" err="1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facilitar</a:t>
            </a:r>
            <a:r>
              <a:rPr lang="en-US" sz="1600" dirty="0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a </a:t>
            </a:r>
            <a:r>
              <a:rPr lang="en-US" sz="1600" dirty="0" err="1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aplicação</a:t>
            </a:r>
            <a:r>
              <a:rPr lang="en-US" sz="1600" dirty="0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de </a:t>
            </a:r>
            <a:r>
              <a:rPr lang="en-US" sz="1600" dirty="0" err="1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estágios</a:t>
            </a:r>
            <a:r>
              <a:rPr lang="en-US" sz="1600" dirty="0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e </a:t>
            </a:r>
            <a:r>
              <a:rPr lang="en-US" sz="1600" dirty="0" err="1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introduzir</a:t>
            </a:r>
            <a:r>
              <a:rPr lang="en-US" sz="1600" dirty="0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sz="1600" dirty="0" err="1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validação</a:t>
            </a:r>
            <a:r>
              <a:rPr lang="en-US" sz="1600" dirty="0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sz="1600" dirty="0" err="1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automática</a:t>
            </a:r>
            <a:r>
              <a:rPr lang="en-US" sz="1600" dirty="0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en-US" sz="1600" dirty="0" err="1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auxiliando</a:t>
            </a:r>
            <a:r>
              <a:rPr lang="en-US" sz="1600" dirty="0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tanto </a:t>
            </a:r>
            <a:r>
              <a:rPr lang="en-US" sz="1600" dirty="0" err="1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aluno</a:t>
            </a:r>
            <a:r>
              <a:rPr lang="en-US" sz="1600" dirty="0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sz="1600" dirty="0" err="1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quanto</a:t>
            </a:r>
            <a:r>
              <a:rPr lang="en-US" sz="1600" dirty="0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US" sz="1600" dirty="0" err="1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empresa</a:t>
            </a:r>
            <a:r>
              <a:rPr lang="en-US" sz="1600" dirty="0"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F96619-15EA-8AAB-8CAC-4EF8D813F5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04" r="35590" b="-1"/>
          <a:stretch>
            <a:fillRect/>
          </a:stretch>
        </p:blipFill>
        <p:spPr>
          <a:xfrm>
            <a:off x="5818632" y="-1"/>
            <a:ext cx="637336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00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EA8D0-8069-2E7C-A6D0-4D00F927E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603501"/>
            <a:ext cx="4361693" cy="1527049"/>
          </a:xfrm>
        </p:spPr>
        <p:txBody>
          <a:bodyPr anchor="b">
            <a:normAutofit/>
          </a:bodyPr>
          <a:lstStyle/>
          <a:p>
            <a:r>
              <a:rPr lang="en-US" dirty="0"/>
              <a:t>Qual o </a:t>
            </a:r>
            <a:r>
              <a:rPr lang="en-US" dirty="0" err="1"/>
              <a:t>objetivo</a:t>
            </a:r>
            <a:r>
              <a:rPr lang="en-US" dirty="0"/>
              <a:t>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12CFB0-1781-3C26-746E-13FF4B7BBA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004" r="35590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068BF-8948-9E28-B28B-7073F2310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3007" y="2212846"/>
            <a:ext cx="4361693" cy="409651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O principal </a:t>
            </a:r>
            <a:r>
              <a:rPr lang="en-US" sz="1500" dirty="0" err="1"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objetivo</a:t>
            </a:r>
            <a:r>
              <a:rPr lang="en-US" sz="1500" dirty="0"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da Plataforma é </a:t>
            </a:r>
            <a:r>
              <a:rPr lang="en-US" sz="1500" dirty="0" err="1"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automatizar</a:t>
            </a:r>
            <a:r>
              <a:rPr lang="en-US" sz="1500" dirty="0"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o </a:t>
            </a:r>
            <a:r>
              <a:rPr lang="en-US" sz="1500" dirty="0" err="1"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processo</a:t>
            </a:r>
            <a:r>
              <a:rPr lang="en-US" sz="1500" dirty="0"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de </a:t>
            </a:r>
            <a:r>
              <a:rPr lang="en-US" sz="1500" dirty="0" err="1"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validação</a:t>
            </a:r>
            <a:r>
              <a:rPr lang="en-US" sz="1500" dirty="0"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de </a:t>
            </a:r>
            <a:r>
              <a:rPr lang="en-US" sz="1500" dirty="0" err="1"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estágios</a:t>
            </a:r>
            <a:r>
              <a:rPr lang="en-US" sz="1500" dirty="0"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pt-BR" sz="1500" dirty="0"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a otimização do fluxo administrativo e a padronização da verificação dos contratos. A plataforma deve gerenciar o recebimento, processamento e retorno das validações dos estágios, incluindo relatórios detalhados para alunos e coordenação.</a:t>
            </a:r>
          </a:p>
          <a:p>
            <a:pPr marL="0" indent="0">
              <a:lnSpc>
                <a:spcPct val="110000"/>
              </a:lnSpc>
              <a:buNone/>
            </a:pPr>
            <a:endParaRPr lang="pt-BR" sz="1500" dirty="0">
              <a:latin typeface="Abadi" panose="020B0604020104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pt-BR" sz="1500" dirty="0"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O sistema será capaz de verificar a conformidade dos contratos com a legislação vigente e as diretrizes acadêmicas.</a:t>
            </a:r>
            <a:endParaRPr lang="en-US" sz="1500" dirty="0">
              <a:latin typeface="Abadi" panose="020B060402010402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313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7064C7-2EEB-0764-272E-9DF57B0EB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7A3622-22CB-F112-E47E-5D51C00FC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dirty="0"/>
              <a:t>Pesquisa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DF7B6-52AC-C84F-0174-62FEC9E59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b="1" dirty="0">
                <a:latin typeface="Abadi" panose="020F0502020204030204" pitchFamily="34" charset="0"/>
              </a:rPr>
              <a:t>O público-alvo </a:t>
            </a:r>
            <a:r>
              <a:rPr lang="pt-BR" sz="1800" dirty="0">
                <a:latin typeface="Abadi" panose="020F0502020204030204" pitchFamily="34" charset="0"/>
              </a:rPr>
              <a:t>deste estudo é composto por estudantes em fase inicial de estágio, que estão em processo de inserção no mercado de trabalho, além de instituições de ensino superior, responsáveis pela regulamentação e acompanhamento acadêmico.</a:t>
            </a:r>
            <a:endParaRPr lang="pt-BR" sz="1800" dirty="0">
              <a:latin typeface="Abadi" panose="020F050202020403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r>
              <a:rPr lang="pt-BR" sz="1800" dirty="0">
                <a:latin typeface="Abadi" panose="020F0502020204030204" pitchFamily="34" charset="0"/>
              </a:rPr>
              <a:t>Este projeto está limitado à análise da gestão de estágios na fase de iniciação, com foco nos aspectos legais, institucionais e operacionais que estruturam esse processo.</a:t>
            </a:r>
            <a:endParaRPr lang="en-US" sz="1800" dirty="0">
              <a:latin typeface="Abadi" panose="020F050202020403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DFE056-8585-9312-8403-02D741361F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23" r="10510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61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63F38F-E17E-127B-CB22-3162ECF93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F15FA88-88C1-158F-6C86-4DEFAEA31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20AB92-7427-1BB9-BDF4-0FF64744F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dirty="0"/>
              <a:t>Pesquisa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29280-5E41-6872-4AB3-715A136FB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 dirty="0">
                <a:latin typeface="Abadi" panose="020B0604020104020204" pitchFamily="34" charset="0"/>
              </a:rPr>
              <a:t>Atualmente, diversas instituições de ensino utilizam sistemas próprios ou plataformas digitais para gerenciar estágios, com foco principalmente no controle de documentos, carga horária e validação acadêmica. Exemplos incluem o SIA do IBMEC e o SIGAA aplicado em federais.</a:t>
            </a:r>
          </a:p>
          <a:p>
            <a:pPr marL="0" indent="0">
              <a:buNone/>
            </a:pPr>
            <a:r>
              <a:rPr lang="pt-BR" sz="1800" dirty="0">
                <a:latin typeface="Abadi" panose="020B0604020104020204" pitchFamily="34" charset="0"/>
              </a:rPr>
              <a:t>O sistema busca implementar todas as regulamentações da </a:t>
            </a:r>
            <a:r>
              <a:rPr lang="en-US" sz="1800" dirty="0"/>
              <a:t>Lei nº 11.788/2008, as </a:t>
            </a:r>
            <a:r>
              <a:rPr lang="en-US" sz="1800" dirty="0" err="1"/>
              <a:t>diretrizes</a:t>
            </a:r>
            <a:r>
              <a:rPr lang="en-US" sz="1800" dirty="0"/>
              <a:t> do MEC e o </a:t>
            </a:r>
            <a:r>
              <a:rPr lang="en-US" sz="1800" dirty="0" err="1"/>
              <a:t>regulamento</a:t>
            </a:r>
            <a:r>
              <a:rPr lang="en-US" sz="1800" dirty="0"/>
              <a:t> da </a:t>
            </a:r>
            <a:r>
              <a:rPr lang="en-US" sz="1800" dirty="0" err="1"/>
              <a:t>universidade</a:t>
            </a:r>
            <a:r>
              <a:rPr lang="en-US" sz="1800" dirty="0"/>
              <a:t>.</a:t>
            </a:r>
            <a:endParaRPr lang="pt-BR" sz="1800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6B4324-FB02-6224-660F-04CD0F4652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23" r="10510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15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ACA6F80-D392-A64E-3CF8-F28F1CCE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85C650-B3FB-F79D-A7B0-61F44092A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4803224" cy="1298446"/>
          </a:xfrm>
        </p:spPr>
        <p:txBody>
          <a:bodyPr>
            <a:normAutofit/>
          </a:bodyPr>
          <a:lstStyle/>
          <a:p>
            <a:r>
              <a:rPr lang="en-US" dirty="0"/>
              <a:t>5w2h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8C2D05-74DE-3548-F9C2-8A10D34C28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71" r="32358" b="1"/>
          <a:stretch>
            <a:fillRect/>
          </a:stretch>
        </p:blipFill>
        <p:spPr>
          <a:xfrm>
            <a:off x="731521" y="2011679"/>
            <a:ext cx="4684352" cy="429768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B1660-19EF-E906-EEDE-B72429DBE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520" y="548637"/>
            <a:ext cx="5546770" cy="5760723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Abadi" panose="020B0604020104020204" pitchFamily="34" charset="0"/>
              </a:rPr>
              <a:t>What? </a:t>
            </a:r>
            <a:r>
              <a:rPr lang="pt-BR" sz="1800" dirty="0">
                <a:latin typeface="Abadi" panose="020B0604020104020204" pitchFamily="34" charset="0"/>
              </a:rPr>
              <a:t>Um serviço backend que processa informações de contratos de estágio e executa regras automatizadas para verificar aderência à Lei 11.788/08 e às normas acadêmicas específicas de cada curso do Ibmec.</a:t>
            </a:r>
            <a:endParaRPr lang="en-US" sz="1800" dirty="0">
              <a:latin typeface="Abadi" panose="020B0604020104020204" pitchFamily="34" charset="0"/>
            </a:endParaRPr>
          </a:p>
          <a:p>
            <a:r>
              <a:rPr lang="en-US" sz="1800" b="1" dirty="0"/>
              <a:t>Why?</a:t>
            </a:r>
            <a:r>
              <a:rPr lang="en-US" sz="1800" dirty="0"/>
              <a:t> </a:t>
            </a:r>
            <a:r>
              <a:rPr lang="pt-BR" sz="1800" dirty="0">
                <a:latin typeface="Abadi" panose="020B0604020104020204" pitchFamily="34" charset="0"/>
              </a:rPr>
              <a:t>Para agilizar o tempo de aprovação dos alunos e reduzir falhas humanas na verificação das exigências acadêmicas e legais.</a:t>
            </a:r>
            <a:endParaRPr lang="en-US" sz="1800" dirty="0">
              <a:latin typeface="Abadi" panose="020B0604020104020204" pitchFamily="34" charset="0"/>
            </a:endParaRPr>
          </a:p>
          <a:p>
            <a:r>
              <a:rPr lang="en-US" sz="1800" b="1" dirty="0"/>
              <a:t>Where?</a:t>
            </a:r>
            <a:r>
              <a:rPr lang="en-US" sz="1800" dirty="0"/>
              <a:t> </a:t>
            </a:r>
            <a:r>
              <a:rPr lang="pt-BR" sz="1800" dirty="0">
                <a:latin typeface="Abadi" panose="020B0604020104020204" pitchFamily="34" charset="0"/>
              </a:rPr>
              <a:t>No Github, utilizando Mkdocs e outras ferramentas de desenvolvimento web.</a:t>
            </a:r>
            <a:endParaRPr lang="en-US" sz="18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949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583FAA-9E70-87E3-4136-EED692324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5w2h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A24BC-73E5-2527-E444-350983EBE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b="1"/>
              <a:t>When?</a:t>
            </a:r>
            <a:r>
              <a:rPr lang="en-US" sz="1400"/>
              <a:t> </a:t>
            </a:r>
            <a:r>
              <a:rPr lang="pt-BR" sz="1400">
                <a:latin typeface="Abadi" panose="020B0604020104020204" pitchFamily="34" charset="0"/>
              </a:rPr>
              <a:t>Quando o professor ordenar o envio do projeto.</a:t>
            </a:r>
            <a:endParaRPr lang="en-US" sz="1400">
              <a:latin typeface="Abadi" panose="020B0604020104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400" b="1"/>
              <a:t>Who?</a:t>
            </a:r>
            <a:r>
              <a:rPr lang="en-US" sz="1400"/>
              <a:t> </a:t>
            </a:r>
            <a:r>
              <a:rPr lang="pt-BR" sz="1400">
                <a:latin typeface="Abadi" panose="020B0604020104020204" pitchFamily="34" charset="0"/>
              </a:rPr>
              <a:t>Os estudantes, a coordenação e a Ibmec.</a:t>
            </a:r>
            <a:endParaRPr lang="en-US" sz="1400">
              <a:latin typeface="Abadi" panose="020B0604020104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400" b="1"/>
              <a:t>How?</a:t>
            </a:r>
            <a:r>
              <a:rPr lang="en-US" sz="1400"/>
              <a:t> </a:t>
            </a:r>
            <a:r>
              <a:rPr lang="pt-BR" sz="1400">
                <a:latin typeface="Abadi" panose="020B0604020104020204" pitchFamily="34" charset="0"/>
              </a:rPr>
              <a:t>Por meio de rotas da API que capturam as informações do estágio em JSON, executam validações conforme as regras de negócio armazenadas no banco e retornam o resultado (Aprovado/Reprovado), incluindo justificativas detalhadas quando houver inconsistências.</a:t>
            </a:r>
            <a:endParaRPr lang="en-US" sz="1400">
              <a:latin typeface="Abadi" panose="020B060402010402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1400" b="1"/>
              <a:t>How much? </a:t>
            </a:r>
            <a:r>
              <a:rPr lang="en-US" sz="1400" i="1">
                <a:latin typeface="Abadi" panose="020B0604020104020204" pitchFamily="34" charset="0"/>
              </a:rPr>
              <a:t>No momento não há custos estimados.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ED682F-7E38-0C57-EC53-F5FDBA8196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71" r="32358" b="1"/>
          <a:stretch>
            <a:fillRect/>
          </a:stretch>
        </p:blipFill>
        <p:spPr>
          <a:xfrm>
            <a:off x="6087868" y="1114923"/>
            <a:ext cx="5044565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8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D3AE8-DBB5-7FAD-337A-DD99739BD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Mapa Mental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D3F76E1-58AE-5971-FDB4-9AE6C0C024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2465044"/>
            <a:ext cx="10653713" cy="309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4275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CDAFF5-ECA6-1ED8-1014-389DF6AB0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Brainstorm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FEBF9-FEE1-5482-F2AE-0E6EC9A1C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latin typeface="Abadi" panose="020B0604020104020204" pitchFamily="34" charset="0"/>
              </a:rPr>
              <a:t>Como </a:t>
            </a:r>
            <a:r>
              <a:rPr lang="en-US" b="1" dirty="0" err="1">
                <a:latin typeface="Abadi" panose="020B0604020104020204" pitchFamily="34" charset="0"/>
              </a:rPr>
              <a:t>será</a:t>
            </a:r>
            <a:r>
              <a:rPr lang="en-US" b="1" dirty="0">
                <a:latin typeface="Abadi" panose="020B0604020104020204" pitchFamily="34" charset="0"/>
              </a:rPr>
              <a:t> o </a:t>
            </a:r>
            <a:r>
              <a:rPr lang="en-US" b="1" dirty="0" err="1">
                <a:latin typeface="Abadi" panose="020B0604020104020204" pitchFamily="34" charset="0"/>
              </a:rPr>
              <a:t>processo</a:t>
            </a:r>
            <a:r>
              <a:rPr lang="en-US" b="1" dirty="0">
                <a:latin typeface="Abadi" panose="020B0604020104020204" pitchFamily="34" charset="0"/>
              </a:rPr>
              <a:t> para </a:t>
            </a:r>
            <a:r>
              <a:rPr lang="en-US" b="1" dirty="0" err="1">
                <a:latin typeface="Abadi" panose="020B0604020104020204" pitchFamily="34" charset="0"/>
              </a:rPr>
              <a:t>cadastrar</a:t>
            </a:r>
            <a:r>
              <a:rPr lang="en-US" b="1" dirty="0">
                <a:latin typeface="Abadi" panose="020B0604020104020204" pitchFamily="34" charset="0"/>
              </a:rPr>
              <a:t> um </a:t>
            </a:r>
            <a:r>
              <a:rPr lang="en-US" b="1" dirty="0" err="1">
                <a:latin typeface="Abadi" panose="020B0604020104020204" pitchFamily="34" charset="0"/>
              </a:rPr>
              <a:t>cliente</a:t>
            </a:r>
            <a:r>
              <a:rPr lang="en-US" b="1" dirty="0">
                <a:latin typeface="Abadi" panose="020B0604020104020204" pitchFamily="34" charset="0"/>
              </a:rPr>
              <a:t>? 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pt-BR" sz="1500" dirty="0">
                <a:latin typeface="Abadi" panose="020B0604020104020204" pitchFamily="34" charset="0"/>
              </a:rPr>
              <a:t>O moderador deverá fazer login e acessar a área de gerenciamento de usuários para autorizar novos cadastros.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pt-BR" sz="1500" dirty="0">
                <a:latin typeface="Abadi" panose="020B0604020104020204" pitchFamily="34" charset="0"/>
              </a:rPr>
              <a:t>O cliente deverá preencher um formulário com seus dados pessoais e acadêmicos.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pt-BR" sz="1500" dirty="0">
                <a:latin typeface="Abadi" panose="020B0604020104020204" pitchFamily="34" charset="0"/>
              </a:rPr>
              <a:t>Com o usuário logado, ele deverá validar as informações inseridas e confirmar o cadastro no sistema.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pt-BR" sz="1500" dirty="0">
                <a:latin typeface="Abadi" panose="020B0604020104020204" pitchFamily="34" charset="0"/>
              </a:rPr>
              <a:t>O cliente fará uso de um token para autenticar as requisições.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pt-BR" sz="1500" dirty="0">
                <a:latin typeface="Abadi" panose="020B0604020104020204" pitchFamily="34" charset="0"/>
              </a:rPr>
              <a:t>O cliente poderá enviar os dados e o sistema irá verificar sua legibilidade.</a:t>
            </a:r>
            <a:br>
              <a:rPr lang="pt-BR" sz="1500" dirty="0"/>
            </a:br>
            <a:endParaRPr lang="en-US" sz="1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AB91EF-1C82-DD2B-863A-7D7EB44790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71" r="32358" b="1"/>
          <a:stretch>
            <a:fillRect/>
          </a:stretch>
        </p:blipFill>
        <p:spPr>
          <a:xfrm>
            <a:off x="7091395" y="1295661"/>
            <a:ext cx="4681506" cy="429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579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FEF923-DE2D-613C-07CD-F4794CD15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C2FCD8-B181-AB93-BD86-D39A81E45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6802" y="603504"/>
            <a:ext cx="5577902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Brainstorm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226F36-2CD1-5263-6E81-AE6D257783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71" r="32358" b="1"/>
          <a:stretch>
            <a:fillRect/>
          </a:stretch>
        </p:blipFill>
        <p:spPr>
          <a:xfrm>
            <a:off x="612648" y="1295661"/>
            <a:ext cx="4681506" cy="429506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8230D-0BF1-AF05-9AE4-0E08E92D9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6802" y="2212848"/>
            <a:ext cx="5577902" cy="409651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pt-BR" sz="1500" b="1">
                <a:latin typeface="Abadi" panose="020B0604020104020204" pitchFamily="34" charset="0"/>
              </a:rPr>
              <a:t>Como será a forma de adicionar produtos (estágios)?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pt-BR" sz="1500">
                <a:latin typeface="Abadi" panose="020B0604020104020204" pitchFamily="34" charset="0"/>
              </a:rPr>
              <a:t>O cliente, ao cadastrar um estágio, deverá inserir as informações do contrato e anexar os documentos necessários.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pt-BR" sz="1500">
                <a:latin typeface="Abadi" panose="020B0604020104020204" pitchFamily="34" charset="0"/>
              </a:rPr>
              <a:t>O "produto" (estágio) possui dados como carga horária, empresa concedente, período e informações do aluno.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pt-BR" sz="1500">
                <a:latin typeface="Abadi" panose="020B0604020104020204" pitchFamily="34" charset="0"/>
              </a:rPr>
              <a:t>O estágio será enviado para processamento, onde passará pelas validações automáticas definidas no sistema.</a:t>
            </a:r>
          </a:p>
          <a:p>
            <a:pPr marL="342900" indent="-342900">
              <a:lnSpc>
                <a:spcPct val="110000"/>
              </a:lnSpc>
              <a:buFont typeface="+mj-lt"/>
              <a:buAutoNum type="arabicPeriod"/>
            </a:pPr>
            <a:r>
              <a:rPr lang="pt-BR" sz="1500">
                <a:latin typeface="Abadi" panose="020B0604020104020204" pitchFamily="34" charset="0"/>
              </a:rPr>
              <a:t>O estágio poderá ser aprovado ou reprovado, com retorno detalhado indicando possíveis pendências ou inconsistências.</a:t>
            </a:r>
          </a:p>
          <a:p>
            <a:pPr marL="0" indent="0">
              <a:lnSpc>
                <a:spcPct val="110000"/>
              </a:lnSpc>
              <a:buNone/>
            </a:pPr>
            <a:br>
              <a:rPr lang="pt-BR" sz="1500"/>
            </a:br>
            <a:endParaRPr lang="pt-BR" sz="1500" b="1"/>
          </a:p>
        </p:txBody>
      </p:sp>
    </p:spTree>
    <p:extLst>
      <p:ext uri="{BB962C8B-B14F-4D97-AF65-F5344CB8AC3E}">
        <p14:creationId xmlns:p14="http://schemas.microsoft.com/office/powerpoint/2010/main" val="2120186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C36A09-CDDB-B319-4290-99A3E139F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436168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Brainstorm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DEB11-3890-B7B0-D677-B2038A060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4361687" cy="40965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>
                <a:latin typeface="Abadi" panose="020B0604020104020204" pitchFamily="34" charset="0"/>
              </a:rPr>
              <a:t>Quais informações seriam interessantes para o cliente?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0" b="1" dirty="0">
                <a:latin typeface="Abadi" panose="020B0604020104020204" pitchFamily="34" charset="0"/>
              </a:rPr>
              <a:t>Status da validação:</a:t>
            </a:r>
            <a:r>
              <a:rPr lang="pt-BR" sz="1800" dirty="0">
                <a:latin typeface="Abadi" panose="020B0604020104020204" pitchFamily="34" charset="0"/>
              </a:rPr>
              <a:t> aprovado, reprovado ou pendente, com detalhes das inconsistências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0" b="1" dirty="0">
                <a:latin typeface="Abadi" panose="020B0604020104020204" pitchFamily="34" charset="0"/>
              </a:rPr>
              <a:t>Histórico:</a:t>
            </a:r>
            <a:r>
              <a:rPr lang="pt-BR" sz="1800" dirty="0">
                <a:latin typeface="Abadi" panose="020B0604020104020204" pitchFamily="34" charset="0"/>
              </a:rPr>
              <a:t> acesso a submissões anteriores, documentos enviados e feedbacks recebidos.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1800" b="1" dirty="0">
                <a:latin typeface="Abadi" panose="020B0604020104020204" pitchFamily="34" charset="0"/>
              </a:rPr>
              <a:t>Regras e Prazos:</a:t>
            </a:r>
            <a:r>
              <a:rPr lang="pt-BR" sz="1800" dirty="0">
                <a:latin typeface="Abadi" panose="020B0604020104020204" pitchFamily="34" charset="0"/>
              </a:rPr>
              <a:t> visualização das normas acadêmicas/legais e orientações para aprovação.</a:t>
            </a:r>
            <a:endParaRPr lang="en-US" sz="1800" dirty="0">
              <a:latin typeface="Abadi" panose="020B06040201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3DDA72-460C-E90F-8173-14215B8AF8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3" r="3533"/>
          <a:stretch>
            <a:fillRect/>
          </a:stretch>
        </p:blipFill>
        <p:spPr>
          <a:xfrm>
            <a:off x="5818632" y="-1"/>
            <a:ext cx="637336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028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FDAD-D1C9-374D-508F-57DEACDDE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Protótipo</a:t>
            </a:r>
            <a:r>
              <a:rPr lang="en-US" dirty="0"/>
              <a:t> de </a:t>
            </a:r>
            <a:r>
              <a:rPr lang="en-US" dirty="0" err="1"/>
              <a:t>baixa</a:t>
            </a:r>
            <a:r>
              <a:rPr lang="en-US" dirty="0"/>
              <a:t> </a:t>
            </a:r>
            <a:r>
              <a:rPr lang="en-US" dirty="0" err="1"/>
              <a:t>fidelidade</a:t>
            </a:r>
            <a:br>
              <a:rPr lang="en-US" dirty="0"/>
            </a:br>
            <a:endParaRPr lang="en-US" dirty="0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C841E74A-51CE-A420-7CC0-C5E05D18E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75" y="2105217"/>
            <a:ext cx="4095750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2360E76-50F1-36BE-5378-313A18CF2C31}"/>
              </a:ext>
            </a:extLst>
          </p:cNvPr>
          <p:cNvGrpSpPr/>
          <p:nvPr/>
        </p:nvGrpSpPr>
        <p:grpSpPr>
          <a:xfrm>
            <a:off x="404812" y="2495742"/>
            <a:ext cx="5076826" cy="3247489"/>
            <a:chOff x="404812" y="3181350"/>
            <a:chExt cx="5076826" cy="3247489"/>
          </a:xfrm>
        </p:grpSpPr>
        <p:pic>
          <p:nvPicPr>
            <p:cNvPr id="4100" name="Picture 4">
              <a:extLst>
                <a:ext uri="{FF2B5EF4-FFF2-40B4-BE49-F238E27FC236}">
                  <a16:creationId xmlns:a16="http://schemas.microsoft.com/office/drawing/2014/main" id="{793F69FE-DFE7-CA72-D1C7-55B40D40B5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813" y="3181350"/>
              <a:ext cx="5076825" cy="2952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D367E6F-D5AA-34E5-699D-4AE5C35E2A95}"/>
                </a:ext>
              </a:extLst>
            </p:cNvPr>
            <p:cNvSpPr txBox="1"/>
            <p:nvPr/>
          </p:nvSpPr>
          <p:spPr>
            <a:xfrm>
              <a:off x="404812" y="6090285"/>
              <a:ext cx="50768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i="1" dirty="0">
                  <a:solidFill>
                    <a:schemeClr val="tx1">
                      <a:alpha val="40000"/>
                    </a:schemeClr>
                  </a:solidFill>
                  <a:latin typeface="Abadi" panose="020B0604020104020204" pitchFamily="34" charset="0"/>
                </a:rPr>
                <a:t>Submeter </a:t>
              </a:r>
              <a:r>
                <a:rPr lang="en-US" sz="1600" i="1" dirty="0" err="1">
                  <a:solidFill>
                    <a:schemeClr val="tx1">
                      <a:alpha val="40000"/>
                    </a:schemeClr>
                  </a:solidFill>
                  <a:latin typeface="Abadi" panose="020B0604020104020204" pitchFamily="34" charset="0"/>
                </a:rPr>
                <a:t>documentação</a:t>
              </a:r>
              <a:endParaRPr lang="en-US" sz="1600" i="1" dirty="0">
                <a:solidFill>
                  <a:schemeClr val="tx1">
                    <a:alpha val="40000"/>
                  </a:schemeClr>
                </a:solidFill>
                <a:latin typeface="Abadi" panose="020B0604020104020204" pitchFamily="34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7B7CE26-40A5-D2EC-FC99-34F560F6D72D}"/>
              </a:ext>
            </a:extLst>
          </p:cNvPr>
          <p:cNvSpPr txBox="1"/>
          <p:nvPr/>
        </p:nvSpPr>
        <p:spPr>
          <a:xfrm>
            <a:off x="7000875" y="5448492"/>
            <a:ext cx="4095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>
                <a:solidFill>
                  <a:schemeClr val="tx1">
                    <a:alpha val="40000"/>
                  </a:schemeClr>
                </a:solidFill>
                <a:latin typeface="Abadi" panose="020B0604020104020204" pitchFamily="34" charset="0"/>
              </a:rPr>
              <a:t>Validação</a:t>
            </a:r>
            <a:endParaRPr lang="en-US" sz="1600" i="1" dirty="0">
              <a:solidFill>
                <a:schemeClr val="tx1">
                  <a:alpha val="40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F0FB3B-044F-5D60-DCEB-5DE33AAD3247}"/>
              </a:ext>
            </a:extLst>
          </p:cNvPr>
          <p:cNvSpPr txBox="1"/>
          <p:nvPr/>
        </p:nvSpPr>
        <p:spPr>
          <a:xfrm>
            <a:off x="4048125" y="1114769"/>
            <a:ext cx="4095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err="1">
                <a:solidFill>
                  <a:schemeClr val="tx1">
                    <a:alpha val="40000"/>
                  </a:schemeClr>
                </a:solidFill>
                <a:latin typeface="Abadi" panose="020B0604020104020204" pitchFamily="34" charset="0"/>
              </a:rPr>
              <a:t>Baseado</a:t>
            </a:r>
            <a:r>
              <a:rPr lang="en-US" sz="1600" i="1" dirty="0">
                <a:solidFill>
                  <a:schemeClr val="tx1">
                    <a:alpha val="40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1600" i="1" dirty="0" err="1">
                <a:solidFill>
                  <a:schemeClr val="tx1">
                    <a:alpha val="40000"/>
                  </a:schemeClr>
                </a:solidFill>
                <a:latin typeface="Abadi" panose="020B0604020104020204" pitchFamily="34" charset="0"/>
              </a:rPr>
              <a:t>em</a:t>
            </a:r>
            <a:r>
              <a:rPr lang="en-US" sz="1600" i="1" dirty="0">
                <a:solidFill>
                  <a:schemeClr val="tx1">
                    <a:alpha val="40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1600" i="1" dirty="0" err="1">
                <a:solidFill>
                  <a:schemeClr val="tx1">
                    <a:alpha val="40000"/>
                  </a:schemeClr>
                </a:solidFill>
                <a:latin typeface="Abadi" panose="020B0604020104020204" pitchFamily="34" charset="0"/>
              </a:rPr>
              <a:t>plantuml</a:t>
            </a:r>
            <a:endParaRPr lang="en-US" sz="1600" i="1" dirty="0">
              <a:solidFill>
                <a:schemeClr val="tx1">
                  <a:alpha val="40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597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55150-1053-00CF-9B53-6BD765AF1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85BC8-ECC0-3ACF-A187-C1E5BBC43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Protótipo</a:t>
            </a:r>
            <a:r>
              <a:rPr lang="en-US" dirty="0"/>
              <a:t> de </a:t>
            </a:r>
            <a:r>
              <a:rPr lang="en-US" dirty="0" err="1"/>
              <a:t>baixa</a:t>
            </a:r>
            <a:r>
              <a:rPr lang="en-US" dirty="0"/>
              <a:t> </a:t>
            </a:r>
            <a:r>
              <a:rPr lang="en-US" dirty="0" err="1"/>
              <a:t>fidelidade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76BFC8-F3E3-C222-D025-8BF61D837C29}"/>
              </a:ext>
            </a:extLst>
          </p:cNvPr>
          <p:cNvSpPr txBox="1"/>
          <p:nvPr/>
        </p:nvSpPr>
        <p:spPr>
          <a:xfrm>
            <a:off x="356402" y="4939645"/>
            <a:ext cx="4095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tx1">
                    <a:alpha val="40000"/>
                  </a:schemeClr>
                </a:solidFill>
                <a:latin typeface="Abadi" panose="020B0604020104020204" pitchFamily="34" charset="0"/>
              </a:rPr>
              <a:t>Painel </a:t>
            </a:r>
            <a:r>
              <a:rPr lang="en-US" sz="1600" i="1" dirty="0" err="1">
                <a:solidFill>
                  <a:schemeClr val="tx1">
                    <a:alpha val="40000"/>
                  </a:schemeClr>
                </a:solidFill>
                <a:latin typeface="Abadi" panose="020B0604020104020204" pitchFamily="34" charset="0"/>
              </a:rPr>
              <a:t>gerencial</a:t>
            </a:r>
            <a:endParaRPr lang="en-US" sz="1600" i="1" dirty="0">
              <a:solidFill>
                <a:schemeClr val="tx1">
                  <a:alpha val="40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073856-01D7-5E63-3144-D8D78B505D46}"/>
              </a:ext>
            </a:extLst>
          </p:cNvPr>
          <p:cNvSpPr txBox="1"/>
          <p:nvPr/>
        </p:nvSpPr>
        <p:spPr>
          <a:xfrm>
            <a:off x="4048125" y="1114769"/>
            <a:ext cx="4095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 err="1">
                <a:solidFill>
                  <a:schemeClr val="tx1">
                    <a:alpha val="40000"/>
                  </a:schemeClr>
                </a:solidFill>
                <a:latin typeface="Abadi" panose="020B0604020104020204" pitchFamily="34" charset="0"/>
              </a:rPr>
              <a:t>Baseado</a:t>
            </a:r>
            <a:r>
              <a:rPr lang="en-US" sz="1600" i="1" dirty="0">
                <a:solidFill>
                  <a:schemeClr val="tx1">
                    <a:alpha val="40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1600" i="1" dirty="0" err="1">
                <a:solidFill>
                  <a:schemeClr val="tx1">
                    <a:alpha val="40000"/>
                  </a:schemeClr>
                </a:solidFill>
                <a:latin typeface="Abadi" panose="020B0604020104020204" pitchFamily="34" charset="0"/>
              </a:rPr>
              <a:t>em</a:t>
            </a:r>
            <a:r>
              <a:rPr lang="en-US" sz="1600" i="1" dirty="0">
                <a:solidFill>
                  <a:schemeClr val="tx1">
                    <a:alpha val="40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n-US" sz="1600" i="1" dirty="0" err="1">
                <a:solidFill>
                  <a:schemeClr val="tx1">
                    <a:alpha val="40000"/>
                  </a:schemeClr>
                </a:solidFill>
                <a:latin typeface="Abadi" panose="020B0604020104020204" pitchFamily="34" charset="0"/>
              </a:rPr>
              <a:t>plantuml</a:t>
            </a:r>
            <a:endParaRPr lang="en-US" sz="1600" i="1" dirty="0">
              <a:solidFill>
                <a:schemeClr val="tx1">
                  <a:alpha val="40000"/>
                </a:schemeClr>
              </a:solidFill>
              <a:latin typeface="Abadi" panose="020B0604020104020204" pitchFamily="34" charset="0"/>
            </a:endParaRPr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30D9D9CD-2218-A13B-F764-8C6D6FF9B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402" y="2488623"/>
            <a:ext cx="5211716" cy="245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1B67A534-D1CF-F7D0-E78D-3B7566A4D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6705" y="2488623"/>
            <a:ext cx="4616092" cy="245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89FF04-72D3-3378-1A9E-8735FCC6FC59}"/>
              </a:ext>
            </a:extLst>
          </p:cNvPr>
          <p:cNvSpPr txBox="1"/>
          <p:nvPr/>
        </p:nvSpPr>
        <p:spPr>
          <a:xfrm>
            <a:off x="6906705" y="4939645"/>
            <a:ext cx="4095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tx1">
                    <a:alpha val="40000"/>
                  </a:schemeClr>
                </a:solidFill>
                <a:latin typeface="Abadi" panose="020B0604020104020204" pitchFamily="34" charset="0"/>
              </a:rPr>
              <a:t>Portal de </a:t>
            </a:r>
            <a:r>
              <a:rPr lang="en-US" sz="1600" i="1" dirty="0" err="1">
                <a:solidFill>
                  <a:schemeClr val="tx1">
                    <a:alpha val="40000"/>
                  </a:schemeClr>
                </a:solidFill>
                <a:latin typeface="Abadi" panose="020B0604020104020204" pitchFamily="34" charset="0"/>
              </a:rPr>
              <a:t>Assinatura</a:t>
            </a:r>
            <a:endParaRPr lang="en-US" sz="1600" i="1" dirty="0">
              <a:solidFill>
                <a:schemeClr val="tx1">
                  <a:alpha val="40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720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3BEA0-F333-F886-9969-B68992AFCE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648" r="2834" b="1669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95DEB6A-976D-98B6-8875-F4C240958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4800"/>
            <a:ext cx="12192000" cy="274320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3000">
                <a:schemeClr val="bg1">
                  <a:alpha val="25000"/>
                </a:schemeClr>
              </a:gs>
              <a:gs pos="59000">
                <a:schemeClr val="bg1">
                  <a:alpha val="35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371394-7EE3-FC02-5EEA-AB070272E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1" y="5728447"/>
            <a:ext cx="8201790" cy="960120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Fim da apresentação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60C5D-7154-662C-ED82-88E3C2443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7819" y="5728445"/>
            <a:ext cx="3409110" cy="9504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r">
              <a:buNone/>
            </a:pPr>
            <a:r>
              <a:rPr lang="en-US" sz="190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715231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672</Words>
  <Application>Microsoft Office PowerPoint</Application>
  <PresentationFormat>Widescreen</PresentationFormat>
  <Paragraphs>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Abadi</vt:lpstr>
      <vt:lpstr>Arial</vt:lpstr>
      <vt:lpstr>Neue Haas Grotesk Text Pro</vt:lpstr>
      <vt:lpstr>VanillaVTI</vt:lpstr>
      <vt:lpstr>Projeto Back-End grupo VII</vt:lpstr>
      <vt:lpstr>O que é o projeto?</vt:lpstr>
      <vt:lpstr>Qual o objetivo?</vt:lpstr>
      <vt:lpstr>Pesquisa</vt:lpstr>
      <vt:lpstr>Pesquisa</vt:lpstr>
      <vt:lpstr>5w2h</vt:lpstr>
      <vt:lpstr>5w2h</vt:lpstr>
      <vt:lpstr>Mapa Mental</vt:lpstr>
      <vt:lpstr>Brainstorm</vt:lpstr>
      <vt:lpstr>Brainstorm</vt:lpstr>
      <vt:lpstr>Brainstorm</vt:lpstr>
      <vt:lpstr>Protótipo de baixa fidelidade </vt:lpstr>
      <vt:lpstr>Protótipo de baixa fidelidade </vt:lpstr>
      <vt:lpstr>Fim da apresentação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BARRETO BORGES</dc:creator>
  <cp:lastModifiedBy>GABRIEL BARRETO BORGES</cp:lastModifiedBy>
  <cp:revision>1</cp:revision>
  <dcterms:created xsi:type="dcterms:W3CDTF">2026-04-17T03:16:45Z</dcterms:created>
  <dcterms:modified xsi:type="dcterms:W3CDTF">2026-04-17T04:21:02Z</dcterms:modified>
</cp:coreProperties>
</file>